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5330825" cy="7562850"/>
  <p:notesSz cx="7562850" cy="5330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1536" y="-3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49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0952" cy="1554480"/>
          </a:xfrm>
          <a:prstGeom prst="rect">
            <a:avLst/>
          </a:prstGeom>
          <a:solidFill>
            <a:srgbClr val="15324F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1545336"/>
            <a:ext cx="5330952" cy="1828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274320" y="1828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60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292608" y="1005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SIGNAL STAR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566160" y="2286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VSS-1</a:t>
            </a:r>
            <a:endParaRPr lang="en-US" sz="900" dirty="0"/>
          </a:p>
          <a:p>
            <a:pPr marL="0" indent="0" algn="r">
              <a:buNone/>
            </a:pPr>
            <a:r>
              <a:rPr lang="en-US" sz="700" kern="0" spc="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SIMD CORE</a:t>
            </a:r>
            <a:endParaRPr lang="en-US" sz="900" dirty="0"/>
          </a:p>
          <a:p>
            <a:pPr marL="0" indent="0" algn="r">
              <a:buNone/>
            </a:pPr>
            <a:r>
              <a:rPr lang="en-US" sz="700" kern="0" spc="1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·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92608" y="1188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SIMD-lite extension of StarCore-1</a:t>
            </a:r>
            <a:r>
              <a:rPr lang="en-US" sz="11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twice the byte throughput, one instruction.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" y="1691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when every cycle on orbit counts."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" y="20574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generate floods of byte-packed sensor data — temperature channels, voltage rails, GPIO status. The baseline StarCore-1 forces you to </a:t>
            </a:r>
            <a:r>
              <a:rPr lang="en-US" sz="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unpack, compute, repack </a:t>
            </a: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word. </a:t>
            </a:r>
            <a:r>
              <a:rPr lang="en-US" sz="9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does both bytes at once</a:t>
            </a:r>
            <a:r>
              <a:rPr lang="en-US" sz="9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 single new opcode and a lane-split ALU. Same pipeline. Same toolchain. Half the instruction count on the workloads that hurt most.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301752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2608" y="329184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292608" y="329184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29768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8-bit lanes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ALU splits the carry chain at bit 7. Two independent byte ops, one clock.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743200" y="329184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2743200" y="329184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2880360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352958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new opcode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880360" y="37124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4'b1110 (VECTOR). 8 vector ops via funct[2:0]. Reserved 1010 untouched.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92608" y="416052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292608" y="416052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29768" y="4215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9768" y="4398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scalar regression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9768" y="4581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vector_mode = 0 keeps every Practical 4 instruction bit-for-bit identical.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743200" y="4160520"/>
            <a:ext cx="2286000" cy="777240"/>
          </a:xfrm>
          <a:prstGeom prst="rect">
            <a:avLst/>
          </a:prstGeom>
          <a:solidFill>
            <a:srgbClr val="12243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5"/>
          <p:cNvSpPr/>
          <p:nvPr/>
        </p:nvSpPr>
        <p:spPr>
          <a:xfrm>
            <a:off x="2743200" y="4160520"/>
            <a:ext cx="54864" cy="777240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880360" y="42153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439826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datapath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80360" y="45811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new wires (vector_mode, funct), one new ALUOp encoding. That's the whole edit.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292608" y="5138928"/>
            <a:ext cx="4754880" cy="9144"/>
          </a:xfrm>
          <a:prstGeom prst="rect">
            <a:avLst/>
          </a:prstGeom>
          <a:solidFill>
            <a:srgbClr val="1E2E4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292608" y="5669280"/>
            <a:ext cx="4754880" cy="9144"/>
          </a:xfrm>
          <a:prstGeom prst="rect">
            <a:avLst/>
          </a:prstGeom>
          <a:solidFill>
            <a:srgbClr val="1E2E44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292608" y="5212080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292608" y="5532120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BYTES / INSTR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027045" y="5230368"/>
            <a:ext cx="1591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7x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090672" y="5541264"/>
            <a:ext cx="15910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kern="0" spc="1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SPEEDUP*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2608" y="57790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SHEET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608" y="60350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1783080" y="603504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16-bit single-cycle RISC, Harvard</a:t>
            </a:r>
            <a:endParaRPr lang="en-US" sz="720" dirty="0"/>
          </a:p>
        </p:txBody>
      </p:sp>
      <p:sp>
        <p:nvSpPr>
          <p:cNvPr id="42" name="Text 40"/>
          <p:cNvSpPr/>
          <p:nvPr/>
        </p:nvSpPr>
        <p:spPr>
          <a:xfrm>
            <a:off x="292608" y="619048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ISA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1783080" y="6190488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VADD VSUB VINV VSHL VSHR VAND VOR VSLT</a:t>
            </a:r>
            <a:endParaRPr lang="en-US" sz="720" dirty="0"/>
          </a:p>
        </p:txBody>
      </p:sp>
      <p:sp>
        <p:nvSpPr>
          <p:cNvPr id="44" name="Text 42"/>
          <p:cNvSpPr/>
          <p:nvPr/>
        </p:nvSpPr>
        <p:spPr>
          <a:xfrm>
            <a:off x="292608" y="634593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783080" y="6345936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opcode 4'b1110, funct = instr[2:0]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292608" y="650138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1783080" y="6501384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scalar 16b  /  SIMD-lite 2 x 8b</a:t>
            </a:r>
            <a:endParaRPr lang="en-US" sz="720" dirty="0"/>
          </a:p>
        </p:txBody>
      </p:sp>
      <p:sp>
        <p:nvSpPr>
          <p:cNvPr id="48" name="Text 46"/>
          <p:cNvSpPr/>
          <p:nvPr/>
        </p:nvSpPr>
        <p:spPr>
          <a:xfrm>
            <a:off x="292608" y="665683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TOUCHED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783080" y="6656832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ALU.v · ALU_Control.v · ControlUnit.v</a:t>
            </a:r>
            <a:endParaRPr lang="en-US" sz="720" dirty="0"/>
          </a:p>
        </p:txBody>
      </p:sp>
      <p:sp>
        <p:nvSpPr>
          <p:cNvPr id="50" name="Text 48"/>
          <p:cNvSpPr/>
          <p:nvPr/>
        </p:nvSpPr>
        <p:spPr>
          <a:xfrm>
            <a:off x="292608" y="681228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1783080" y="6812280"/>
            <a:ext cx="3337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" dirty="0">
                <a:solidFill>
                  <a:srgbClr val="E8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Icarus Verilog 12.0 + GTKWave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0" y="7114032"/>
            <a:ext cx="5330952" cy="448056"/>
          </a:xfrm>
          <a:prstGeom prst="rect">
            <a:avLst/>
          </a:prstGeom>
          <a:solidFill>
            <a:srgbClr val="12243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Shape 51"/>
          <p:cNvSpPr/>
          <p:nvPr/>
        </p:nvSpPr>
        <p:spPr>
          <a:xfrm>
            <a:off x="0" y="7114032"/>
            <a:ext cx="5330952" cy="18288"/>
          </a:xfrm>
          <a:prstGeom prst="rect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4" name="Text 52"/>
          <p:cNvSpPr/>
          <p:nvPr/>
        </p:nvSpPr>
        <p:spPr>
          <a:xfrm>
            <a:off x="32327" y="7173468"/>
            <a:ext cx="436418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EEE4120F HPES Project · Group 7</a:t>
            </a:r>
            <a:endParaRPr lang="en-US" sz="800" dirty="0"/>
          </a:p>
          <a:p>
            <a:r>
              <a:rPr lang="en-US" sz="6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Joab Gray Kloppers (KLPJOA002) · Alex Hillman (HLLALE010) </a:t>
            </a:r>
            <a:r>
              <a:rPr lang="en-US" sz="80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 </a:t>
            </a:r>
            <a:r>
              <a:rPr lang="en-US" sz="650" dirty="0">
                <a:solidFill>
                  <a:srgbClr val="8FA0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Justin Heathcote-Marks (HTHJUS001)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352695" y="7178040"/>
            <a:ext cx="94949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Modelled on packed 8-bit</a:t>
            </a:r>
            <a:endParaRPr lang="en-US" sz="650" dirty="0"/>
          </a:p>
          <a:p>
            <a:pPr marL="0" indent="0" algn="r">
              <a:buNone/>
            </a:pPr>
            <a:r>
              <a:rPr lang="en-US" sz="65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workloads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EEE4120F HPES Project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VSS — Product Flyer (editable)</dc:title>
  <dc:subject>PptxGenJS Presentation</dc:subject>
  <dc:creator>Group 7 — Kloppers, Hillman</dc:creator>
  <cp:lastModifiedBy>Joab Kloppers</cp:lastModifiedBy>
  <cp:revision>3</cp:revision>
  <dcterms:created xsi:type="dcterms:W3CDTF">2026-05-17T22:07:18Z</dcterms:created>
  <dcterms:modified xsi:type="dcterms:W3CDTF">2026-05-18T08:28:23Z</dcterms:modified>
</cp:coreProperties>
</file>